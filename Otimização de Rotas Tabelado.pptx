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700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700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47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698" y="5134254"/>
                </a:moveTo>
                <a:lnTo>
                  <a:pt x="0" y="0"/>
                </a:lnTo>
                <a:lnTo>
                  <a:pt x="0" y="1141628"/>
                </a:lnTo>
                <a:lnTo>
                  <a:pt x="0" y="2567127"/>
                </a:lnTo>
                <a:lnTo>
                  <a:pt x="0" y="2783332"/>
                </a:lnTo>
                <a:lnTo>
                  <a:pt x="2349131" y="5123840"/>
                </a:lnTo>
                <a:lnTo>
                  <a:pt x="2566378" y="5123840"/>
                </a:lnTo>
                <a:lnTo>
                  <a:pt x="2576842" y="5134254"/>
                </a:lnTo>
                <a:lnTo>
                  <a:pt x="5153698" y="5134254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145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82C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10175" y="1631105"/>
            <a:ext cx="372046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780374" y="3496436"/>
            <a:ext cx="3566795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145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82C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0525" y="454583"/>
            <a:ext cx="44831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0525" y="1631939"/>
            <a:ext cx="6336665" cy="2168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55" dirty="0"/>
              <a:t>Otimização</a:t>
            </a:r>
            <a:r>
              <a:rPr sz="4000" spc="-325" dirty="0"/>
              <a:t> </a:t>
            </a:r>
            <a:r>
              <a:rPr sz="4000" spc="95" dirty="0"/>
              <a:t>de </a:t>
            </a:r>
            <a:r>
              <a:rPr sz="4000" spc="-10" dirty="0"/>
              <a:t>Rotas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/>
              <a:t>Disciplina:</a:t>
            </a:r>
            <a:r>
              <a:rPr sz="1100" spc="-30" dirty="0"/>
              <a:t> </a:t>
            </a:r>
            <a:r>
              <a:rPr sz="1100" b="0" dirty="0">
                <a:latin typeface="Arial MT"/>
                <a:cs typeface="Arial MT"/>
              </a:rPr>
              <a:t>Programação</a:t>
            </a:r>
            <a:r>
              <a:rPr sz="1100" b="0" spc="-3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Paralela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spc="-25" dirty="0"/>
              <a:t>Tema:</a:t>
            </a:r>
            <a:r>
              <a:rPr sz="1100" spc="-65" dirty="0"/>
              <a:t> </a:t>
            </a:r>
            <a:r>
              <a:rPr sz="1100" b="0" spc="-10" dirty="0">
                <a:latin typeface="Arial MT"/>
                <a:cs typeface="Arial MT"/>
              </a:rPr>
              <a:t>Aplicação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algoritmos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2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busca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OpenMP</a:t>
            </a:r>
            <a:r>
              <a:rPr sz="1100" b="0" spc="-45" dirty="0">
                <a:latin typeface="Arial MT"/>
                <a:cs typeface="Arial MT"/>
              </a:rPr>
              <a:t> </a:t>
            </a:r>
            <a:r>
              <a:rPr sz="1100" b="0" spc="-20" dirty="0">
                <a:latin typeface="Arial MT"/>
                <a:cs typeface="Arial MT"/>
              </a:rPr>
              <a:t>para </a:t>
            </a:r>
            <a:r>
              <a:rPr sz="1100" b="0" dirty="0">
                <a:latin typeface="Arial MT"/>
                <a:cs typeface="Arial MT"/>
              </a:rPr>
              <a:t>cálculo</a:t>
            </a:r>
            <a:r>
              <a:rPr sz="1100" b="0" spc="-25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eficiente</a:t>
            </a:r>
            <a:r>
              <a:rPr sz="1100" b="0" spc="-2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rotas</a:t>
            </a:r>
            <a:r>
              <a:rPr sz="1100" b="0" spc="-2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evacuação.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Motivação</a:t>
            </a:r>
            <a:r>
              <a:rPr spc="-145" dirty="0"/>
              <a:t> </a:t>
            </a:r>
            <a:r>
              <a:rPr spc="70" dirty="0"/>
              <a:t>do</a:t>
            </a:r>
            <a:r>
              <a:rPr spc="-145" dirty="0"/>
              <a:t> </a:t>
            </a:r>
            <a:r>
              <a:rPr spc="-10" dirty="0"/>
              <a:t>Projeto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31939"/>
            <a:ext cx="12249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O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problema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2060182"/>
            <a:ext cx="4418330" cy="174053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469265" indent="-312420">
              <a:lnSpc>
                <a:spcPct val="100000"/>
              </a:lnSpc>
              <a:spcBef>
                <a:spcPts val="295"/>
              </a:spcBef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Crescimento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tráfego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urbano.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Situações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emergência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exigem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decisões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rápidas.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Sistemas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convencionais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podem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não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responder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tempo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hábil.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spc="-10" dirty="0">
                <a:latin typeface="Arial"/>
                <a:cs typeface="Arial"/>
              </a:rPr>
              <a:t>Exemplos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de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regiões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críticas</a:t>
            </a:r>
            <a:endParaRPr sz="13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144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Anel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Rodoviário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Avenida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Contorno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Avenida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Cristiano Machado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Objetivo</a:t>
            </a:r>
            <a:r>
              <a:rPr spc="-190" dirty="0"/>
              <a:t> </a:t>
            </a:r>
            <a:r>
              <a:rPr spc="70" dirty="0"/>
              <a:t>do</a:t>
            </a:r>
            <a:r>
              <a:rPr spc="-190" dirty="0"/>
              <a:t> </a:t>
            </a:r>
            <a:r>
              <a:rPr spc="-10" dirty="0"/>
              <a:t>Projeto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Objetivo</a:t>
            </a:r>
          </a:p>
          <a:p>
            <a:pPr marL="12700" marR="5080">
              <a:lnSpc>
                <a:spcPct val="114999"/>
              </a:lnSpc>
              <a:spcBef>
                <a:spcPts val="1330"/>
              </a:spcBef>
            </a:pPr>
            <a:r>
              <a:rPr sz="1100" b="0" dirty="0">
                <a:latin typeface="Arial MT"/>
                <a:cs typeface="Arial MT"/>
              </a:rPr>
              <a:t>Desenvolver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uma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solução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capaz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calcular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múltiplas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rotas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evacuação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simultaneamente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utilizando </a:t>
            </a:r>
            <a:r>
              <a:rPr sz="1100" b="0" dirty="0">
                <a:latin typeface="Arial MT"/>
                <a:cs typeface="Arial MT"/>
              </a:rPr>
              <a:t>programação</a:t>
            </a:r>
            <a:r>
              <a:rPr sz="1100" b="0" spc="-55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paralela.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-10" dirty="0"/>
              <a:t>Especificamente:</a:t>
            </a:r>
            <a:endParaRPr sz="1300"/>
          </a:p>
          <a:p>
            <a:pPr marL="469265" indent="-312420">
              <a:lnSpc>
                <a:spcPct val="100000"/>
              </a:lnSpc>
              <a:spcBef>
                <a:spcPts val="1445"/>
              </a:spcBef>
              <a:buChar char="●"/>
              <a:tabLst>
                <a:tab pos="469265" algn="l"/>
              </a:tabLst>
            </a:pPr>
            <a:r>
              <a:rPr sz="1100" b="0" dirty="0">
                <a:latin typeface="Arial MT"/>
                <a:cs typeface="Arial MT"/>
              </a:rPr>
              <a:t>Modelar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a</a:t>
            </a:r>
            <a:r>
              <a:rPr sz="1100" b="0" spc="-3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malha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viária</a:t>
            </a:r>
            <a:r>
              <a:rPr sz="1100" b="0" spc="-3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como</a:t>
            </a:r>
            <a:r>
              <a:rPr sz="1100" b="0" spc="-3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um</a:t>
            </a:r>
            <a:r>
              <a:rPr sz="1100" b="0" spc="-3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grafo.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sz="1100" b="0" dirty="0">
                <a:latin typeface="Arial MT"/>
                <a:cs typeface="Arial MT"/>
              </a:rPr>
              <a:t>Utilizar</a:t>
            </a:r>
            <a:r>
              <a:rPr sz="1100" b="0" spc="-4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algoritmos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45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caminhos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mínimos.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469265" algn="l"/>
              </a:tabLst>
            </a:pPr>
            <a:r>
              <a:rPr sz="1100" b="0" dirty="0">
                <a:latin typeface="Arial MT"/>
                <a:cs typeface="Arial MT"/>
              </a:rPr>
              <a:t>Paralelizar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o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processamento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das</a:t>
            </a:r>
            <a:r>
              <a:rPr sz="1100" b="0" spc="-4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consultas.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469265" algn="l"/>
              </a:tabLst>
            </a:pPr>
            <a:r>
              <a:rPr sz="1100" b="0" dirty="0">
                <a:latin typeface="Arial MT"/>
                <a:cs typeface="Arial MT"/>
              </a:rPr>
              <a:t>Avaliar</a:t>
            </a:r>
            <a:r>
              <a:rPr sz="1100" b="0" spc="-25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desempenho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através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de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speedup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dirty="0">
                <a:latin typeface="Arial MT"/>
                <a:cs typeface="Arial MT"/>
              </a:rPr>
              <a:t>e</a:t>
            </a:r>
            <a:r>
              <a:rPr sz="1100" b="0" spc="-20" dirty="0">
                <a:latin typeface="Arial MT"/>
                <a:cs typeface="Arial MT"/>
              </a:rPr>
              <a:t> </a:t>
            </a:r>
            <a:r>
              <a:rPr sz="1100" b="0" spc="-10" dirty="0">
                <a:latin typeface="Arial MT"/>
                <a:cs typeface="Arial MT"/>
              </a:rPr>
              <a:t>eficiência.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Modelagem</a:t>
            </a:r>
            <a:r>
              <a:rPr spc="-204" dirty="0"/>
              <a:t> </a:t>
            </a:r>
            <a:r>
              <a:rPr spc="70" dirty="0"/>
              <a:t>do</a:t>
            </a:r>
            <a:r>
              <a:rPr spc="-204" dirty="0"/>
              <a:t> </a:t>
            </a:r>
            <a:r>
              <a:rPr spc="45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37768"/>
            <a:ext cx="8356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dirty="0">
                <a:latin typeface="Arial"/>
                <a:cs typeface="Arial"/>
              </a:rPr>
              <a:t>Representação</a:t>
            </a:r>
            <a:r>
              <a:rPr sz="550" b="1" spc="-20" dirty="0">
                <a:latin typeface="Arial"/>
                <a:cs typeface="Arial"/>
              </a:rPr>
              <a:t> </a:t>
            </a:r>
            <a:r>
              <a:rPr sz="550" b="1" dirty="0">
                <a:latin typeface="Arial"/>
                <a:cs typeface="Arial"/>
              </a:rPr>
              <a:t>do</a:t>
            </a:r>
            <a:r>
              <a:rPr sz="550" b="1" spc="-20" dirty="0">
                <a:latin typeface="Arial"/>
                <a:cs typeface="Arial"/>
              </a:rPr>
              <a:t> mapa</a:t>
            </a:r>
            <a:endParaRPr sz="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1707" y="1876845"/>
            <a:ext cx="533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spc="-80" dirty="0">
                <a:latin typeface="Arial MT"/>
                <a:cs typeface="Arial MT"/>
              </a:rPr>
              <a:t>●</a:t>
            </a:r>
            <a:endParaRPr sz="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50" spc="-80" dirty="0">
                <a:latin typeface="Arial MT"/>
                <a:cs typeface="Arial MT"/>
              </a:rPr>
              <a:t>●</a:t>
            </a:r>
            <a:endParaRPr sz="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50" spc="-80" dirty="0">
                <a:latin typeface="Arial MT"/>
                <a:cs typeface="Arial MT"/>
              </a:rPr>
              <a:t>●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7725" y="1876845"/>
            <a:ext cx="11176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Arial"/>
                <a:cs typeface="Arial"/>
              </a:rPr>
              <a:t>Vértices:</a:t>
            </a:r>
            <a:r>
              <a:rPr sz="350" b="1" spc="5" dirty="0">
                <a:latin typeface="Arial"/>
                <a:cs typeface="Arial"/>
              </a:rPr>
              <a:t> </a:t>
            </a:r>
            <a:r>
              <a:rPr sz="350" dirty="0">
                <a:latin typeface="Arial MT"/>
                <a:cs typeface="Arial MT"/>
              </a:rPr>
              <a:t>cruzamentos</a:t>
            </a:r>
            <a:r>
              <a:rPr sz="350" spc="5" dirty="0">
                <a:latin typeface="Arial MT"/>
                <a:cs typeface="Arial MT"/>
              </a:rPr>
              <a:t> </a:t>
            </a:r>
            <a:r>
              <a:rPr sz="350" dirty="0">
                <a:latin typeface="Arial MT"/>
                <a:cs typeface="Arial MT"/>
              </a:rPr>
              <a:t>e</a:t>
            </a:r>
            <a:r>
              <a:rPr sz="350" spc="5" dirty="0">
                <a:latin typeface="Arial MT"/>
                <a:cs typeface="Arial MT"/>
              </a:rPr>
              <a:t> </a:t>
            </a:r>
            <a:r>
              <a:rPr sz="350" spc="-10" dirty="0">
                <a:latin typeface="Arial MT"/>
                <a:cs typeface="Arial MT"/>
              </a:rPr>
              <a:t>interseções.</a:t>
            </a:r>
            <a:endParaRPr sz="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50" b="1" dirty="0">
                <a:latin typeface="Arial"/>
                <a:cs typeface="Arial"/>
              </a:rPr>
              <a:t>Arestas:</a:t>
            </a:r>
            <a:r>
              <a:rPr sz="350" b="1" spc="5" dirty="0">
                <a:latin typeface="Arial"/>
                <a:cs typeface="Arial"/>
              </a:rPr>
              <a:t> </a:t>
            </a:r>
            <a:r>
              <a:rPr sz="350" dirty="0">
                <a:latin typeface="Arial MT"/>
                <a:cs typeface="Arial MT"/>
              </a:rPr>
              <a:t>ruas</a:t>
            </a:r>
            <a:r>
              <a:rPr sz="350" spc="5" dirty="0">
                <a:latin typeface="Arial MT"/>
                <a:cs typeface="Arial MT"/>
              </a:rPr>
              <a:t> </a:t>
            </a:r>
            <a:r>
              <a:rPr sz="350" dirty="0">
                <a:latin typeface="Arial MT"/>
                <a:cs typeface="Arial MT"/>
              </a:rPr>
              <a:t>e</a:t>
            </a:r>
            <a:r>
              <a:rPr sz="350" spc="5" dirty="0">
                <a:latin typeface="Arial MT"/>
                <a:cs typeface="Arial MT"/>
              </a:rPr>
              <a:t> </a:t>
            </a:r>
            <a:r>
              <a:rPr sz="350" spc="-10" dirty="0">
                <a:latin typeface="Arial MT"/>
                <a:cs typeface="Arial MT"/>
              </a:rPr>
              <a:t>avenidas.</a:t>
            </a:r>
            <a:endParaRPr sz="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50" b="1" dirty="0">
                <a:latin typeface="Arial"/>
                <a:cs typeface="Arial"/>
              </a:rPr>
              <a:t>Peso</a:t>
            </a:r>
            <a:r>
              <a:rPr sz="350" b="1" spc="-5" dirty="0">
                <a:latin typeface="Arial"/>
                <a:cs typeface="Arial"/>
              </a:rPr>
              <a:t> </a:t>
            </a:r>
            <a:r>
              <a:rPr sz="350" b="1" dirty="0">
                <a:latin typeface="Arial"/>
                <a:cs typeface="Arial"/>
              </a:rPr>
              <a:t>das arestas: </a:t>
            </a:r>
            <a:r>
              <a:rPr sz="350" dirty="0">
                <a:latin typeface="Arial MT"/>
                <a:cs typeface="Arial MT"/>
              </a:rPr>
              <a:t>tempo</a:t>
            </a:r>
            <a:r>
              <a:rPr sz="350" spc="-5" dirty="0">
                <a:latin typeface="Arial MT"/>
                <a:cs typeface="Arial MT"/>
              </a:rPr>
              <a:t> </a:t>
            </a:r>
            <a:r>
              <a:rPr sz="350" spc="-10" dirty="0">
                <a:latin typeface="Arial MT"/>
                <a:cs typeface="Arial MT"/>
              </a:rPr>
              <a:t>estimado</a:t>
            </a:r>
            <a:r>
              <a:rPr sz="350" dirty="0">
                <a:latin typeface="Arial MT"/>
                <a:cs typeface="Arial MT"/>
              </a:rPr>
              <a:t> de </a:t>
            </a:r>
            <a:r>
              <a:rPr sz="350" spc="-10" dirty="0">
                <a:latin typeface="Arial MT"/>
                <a:cs typeface="Arial MT"/>
              </a:rPr>
              <a:t>deslocamento.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0525" y="2260468"/>
            <a:ext cx="2423795" cy="20701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400">
              <a:latin typeface="Tahoma"/>
              <a:cs typeface="Tahoma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60" dirty="0">
                <a:solidFill>
                  <a:srgbClr val="FFFFFF"/>
                </a:solidFill>
                <a:latin typeface="Tahoma"/>
                <a:cs typeface="Tahoma"/>
              </a:rPr>
              <a:t>\</a:t>
            </a: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40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</a:pP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4/</a:t>
            </a:r>
            <a:r>
              <a:rPr sz="400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\2</a:t>
            </a: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40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</a:pP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400" spc="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\</a:t>
            </a: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4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B---3---</a:t>
            </a: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400">
              <a:latin typeface="Tahoma"/>
              <a:cs typeface="Tahoma"/>
            </a:endParaRPr>
          </a:p>
          <a:p>
            <a:pPr marL="85090" marR="2299335" indent="-10795">
              <a:lnSpc>
                <a:spcPct val="360900"/>
              </a:lnSpc>
            </a:pP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\</a:t>
            </a:r>
            <a:r>
              <a:rPr sz="4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400">
              <a:latin typeface="Tahoma"/>
              <a:cs typeface="Tahoma"/>
            </a:endParaRPr>
          </a:p>
          <a:p>
            <a:pPr marL="105410" marR="2269490" indent="-10795">
              <a:lnSpc>
                <a:spcPct val="360900"/>
              </a:lnSpc>
            </a:pP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\</a:t>
            </a:r>
            <a:r>
              <a:rPr sz="400" spc="5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5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objetivo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é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encontrar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caminho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menor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custo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entre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um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ponto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10" dirty="0">
                <a:solidFill>
                  <a:srgbClr val="FFFFFF"/>
                </a:solidFill>
                <a:latin typeface="Tahoma"/>
                <a:cs typeface="Tahoma"/>
              </a:rPr>
              <a:t>congestionado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uma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saída</a:t>
            </a:r>
            <a:r>
              <a:rPr sz="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dirty="0">
                <a:solidFill>
                  <a:srgbClr val="FFFFFF"/>
                </a:solidFill>
                <a:latin typeface="Tahoma"/>
                <a:cs typeface="Tahoma"/>
              </a:rPr>
              <a:t>da</a:t>
            </a:r>
            <a:r>
              <a:rPr sz="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" spc="-10" dirty="0">
                <a:solidFill>
                  <a:srgbClr val="FFFFFF"/>
                </a:solidFill>
                <a:latin typeface="Tahoma"/>
                <a:cs typeface="Tahoma"/>
              </a:rPr>
              <a:t>cidade.</a:t>
            </a:r>
            <a:endParaRPr sz="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0525" y="454583"/>
            <a:ext cx="300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Cenário</a:t>
            </a:r>
            <a:r>
              <a:rPr spc="-200" dirty="0"/>
              <a:t> </a:t>
            </a:r>
            <a:r>
              <a:rPr spc="70" dirty="0"/>
              <a:t>de</a:t>
            </a:r>
            <a:r>
              <a:rPr spc="-195" dirty="0"/>
              <a:t> </a:t>
            </a:r>
            <a:r>
              <a:rPr spc="-10" dirty="0"/>
              <a:t>Estresse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9384" y="1628281"/>
            <a:ext cx="653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Elemento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2077099"/>
            <a:ext cx="181419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Vértices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75000"/>
              </a:lnSpc>
            </a:pPr>
            <a:r>
              <a:rPr sz="1400" dirty="0">
                <a:latin typeface="Arial MT"/>
                <a:cs typeface="Arial MT"/>
              </a:rPr>
              <a:t>Consultas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simultâneas Origens</a:t>
            </a:r>
            <a:endParaRPr sz="1400">
              <a:latin typeface="Arial MT"/>
              <a:cs typeface="Arial MT"/>
            </a:endParaRPr>
          </a:p>
          <a:p>
            <a:pPr marL="12700" marR="687070">
              <a:lnSpc>
                <a:spcPct val="175000"/>
              </a:lnSpc>
            </a:pPr>
            <a:r>
              <a:rPr sz="1400" spc="-10" dirty="0">
                <a:latin typeface="Arial MT"/>
                <a:cs typeface="Arial MT"/>
              </a:rPr>
              <a:t>Destinos</a:t>
            </a:r>
            <a:r>
              <a:rPr sz="1400" dirty="0">
                <a:latin typeface="Arial MT"/>
                <a:cs typeface="Arial MT"/>
              </a:rPr>
              <a:t> Base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utilizada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0511" y="1946797"/>
            <a:ext cx="1873885" cy="205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Quantidade</a:t>
            </a:r>
            <a:endParaRPr sz="11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1250"/>
              </a:spcBef>
            </a:pPr>
            <a:r>
              <a:rPr sz="1400" spc="-10" dirty="0">
                <a:latin typeface="Arial MT"/>
                <a:cs typeface="Arial MT"/>
              </a:rPr>
              <a:t>200.000</a:t>
            </a:r>
            <a:endParaRPr sz="140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1260"/>
              </a:spcBef>
            </a:pPr>
            <a:r>
              <a:rPr sz="1400" spc="-10" dirty="0">
                <a:latin typeface="Arial MT"/>
                <a:cs typeface="Arial MT"/>
              </a:rPr>
              <a:t>4.000</a:t>
            </a:r>
            <a:endParaRPr sz="1400">
              <a:latin typeface="Arial MT"/>
              <a:cs typeface="Arial MT"/>
            </a:endParaRPr>
          </a:p>
          <a:p>
            <a:pPr marL="486409" marR="5080" indent="-474345" algn="r">
              <a:lnSpc>
                <a:spcPct val="175000"/>
              </a:lnSpc>
            </a:pPr>
            <a:r>
              <a:rPr sz="1400" dirty="0">
                <a:latin typeface="Arial MT"/>
                <a:cs typeface="Arial MT"/>
              </a:rPr>
              <a:t>Pontos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congestionados </a:t>
            </a:r>
            <a:r>
              <a:rPr sz="1400" dirty="0">
                <a:latin typeface="Arial MT"/>
                <a:cs typeface="Arial MT"/>
              </a:rPr>
              <a:t>Saídas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cidade</a:t>
            </a:r>
            <a:endParaRPr sz="1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60"/>
              </a:spcBef>
            </a:pPr>
            <a:r>
              <a:rPr sz="1400" spc="-10" dirty="0">
                <a:latin typeface="Arial MT"/>
                <a:cs typeface="Arial MT"/>
              </a:rPr>
              <a:t>Geofabrik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Algoritmo</a:t>
            </a:r>
            <a:r>
              <a:rPr spc="-30" dirty="0"/>
              <a:t> </a:t>
            </a:r>
            <a:r>
              <a:rPr spc="70" dirty="0"/>
              <a:t>de</a:t>
            </a:r>
            <a:r>
              <a:rPr spc="-30" dirty="0"/>
              <a:t> </a:t>
            </a:r>
            <a:r>
              <a:rPr spc="-10" dirty="0"/>
              <a:t>Busca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27275"/>
            <a:ext cx="579755" cy="207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50" b="1" spc="-10" dirty="0">
                <a:latin typeface="Arial"/>
                <a:cs typeface="Arial"/>
              </a:rPr>
              <a:t>Dijkstra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1956657"/>
            <a:ext cx="1486535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Arial MT"/>
                <a:cs typeface="Arial MT"/>
              </a:rPr>
              <a:t>Para</a:t>
            </a:r>
            <a:r>
              <a:rPr sz="750" spc="4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cada</a:t>
            </a:r>
            <a:r>
              <a:rPr sz="750" spc="4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origem</a:t>
            </a:r>
            <a:r>
              <a:rPr sz="750" spc="45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congestionada: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577" y="2220538"/>
            <a:ext cx="107314" cy="4775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890"/>
              </a:lnSpc>
              <a:spcBef>
                <a:spcPts val="120"/>
              </a:spcBef>
            </a:pPr>
            <a:r>
              <a:rPr sz="750" spc="-25" dirty="0">
                <a:latin typeface="Arial MT"/>
                <a:cs typeface="Arial MT"/>
              </a:rPr>
              <a:t>1.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ts val="880"/>
              </a:lnSpc>
            </a:pPr>
            <a:r>
              <a:rPr sz="750" spc="-25" dirty="0">
                <a:latin typeface="Arial MT"/>
                <a:cs typeface="Arial MT"/>
              </a:rPr>
              <a:t>2.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ts val="880"/>
              </a:lnSpc>
            </a:pPr>
            <a:r>
              <a:rPr sz="750" spc="-25" dirty="0">
                <a:latin typeface="Arial MT"/>
                <a:cs typeface="Arial MT"/>
              </a:rPr>
              <a:t>3.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ts val="890"/>
              </a:lnSpc>
            </a:pPr>
            <a:r>
              <a:rPr sz="750" spc="-25" dirty="0">
                <a:latin typeface="Arial MT"/>
                <a:cs typeface="Arial MT"/>
              </a:rPr>
              <a:t>4.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7725" y="2220538"/>
            <a:ext cx="1948814" cy="4775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890"/>
              </a:lnSpc>
              <a:spcBef>
                <a:spcPts val="120"/>
              </a:spcBef>
            </a:pPr>
            <a:r>
              <a:rPr sz="750" dirty="0">
                <a:latin typeface="Arial MT"/>
                <a:cs typeface="Arial MT"/>
              </a:rPr>
              <a:t>Inicializa</a:t>
            </a:r>
            <a:r>
              <a:rPr sz="750" spc="3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as</a:t>
            </a:r>
            <a:r>
              <a:rPr sz="750" spc="30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distâncias.</a:t>
            </a:r>
            <a:endParaRPr sz="750">
              <a:latin typeface="Arial MT"/>
              <a:cs typeface="Arial MT"/>
            </a:endParaRPr>
          </a:p>
          <a:p>
            <a:pPr marL="12700" marR="5080">
              <a:lnSpc>
                <a:spcPts val="880"/>
              </a:lnSpc>
              <a:spcBef>
                <a:spcPts val="35"/>
              </a:spcBef>
            </a:pPr>
            <a:r>
              <a:rPr sz="750" dirty="0">
                <a:latin typeface="Arial MT"/>
                <a:cs typeface="Arial MT"/>
              </a:rPr>
              <a:t>Explora</a:t>
            </a:r>
            <a:r>
              <a:rPr sz="750" spc="4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os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vértices</a:t>
            </a:r>
            <a:r>
              <a:rPr sz="750" spc="5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mais</a:t>
            </a:r>
            <a:r>
              <a:rPr sz="750" spc="45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promissores. </a:t>
            </a:r>
            <a:r>
              <a:rPr sz="750" dirty="0">
                <a:latin typeface="Arial MT"/>
                <a:cs typeface="Arial MT"/>
              </a:rPr>
              <a:t>Atualiza</a:t>
            </a:r>
            <a:r>
              <a:rPr sz="750" spc="6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os</a:t>
            </a:r>
            <a:r>
              <a:rPr sz="750" spc="6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menores</a:t>
            </a:r>
            <a:r>
              <a:rPr sz="750" spc="6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caminhos</a:t>
            </a:r>
            <a:r>
              <a:rPr sz="750" spc="65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encontrados. </a:t>
            </a:r>
            <a:r>
              <a:rPr sz="750" dirty="0">
                <a:latin typeface="Arial MT"/>
                <a:cs typeface="Arial MT"/>
              </a:rPr>
              <a:t>Determina</a:t>
            </a:r>
            <a:r>
              <a:rPr sz="750" spc="3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a</a:t>
            </a:r>
            <a:r>
              <a:rPr sz="750" spc="4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saída</a:t>
            </a:r>
            <a:r>
              <a:rPr sz="750" spc="4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mais</a:t>
            </a:r>
            <a:r>
              <a:rPr sz="750" spc="40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próxima.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0525" y="2818860"/>
            <a:ext cx="1826260" cy="1278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10" dirty="0">
                <a:latin typeface="Arial MT"/>
                <a:cs typeface="Arial MT"/>
              </a:rPr>
              <a:t>Pseudoestrutura: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sz="9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sz="9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origem: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Tahoma"/>
              <a:cs typeface="Tahoma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Executar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900">
              <a:latin typeface="Tahoma"/>
              <a:cs typeface="Tahoma"/>
            </a:endParaRPr>
          </a:p>
          <a:p>
            <a:pPr marL="101600" marR="5080">
              <a:lnSpc>
                <a:spcPct val="207200"/>
              </a:lnSpc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Comparar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distância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até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saída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Guardar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menor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rota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encontrada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Estratégia</a:t>
            </a:r>
            <a:r>
              <a:rPr spc="-170" dirty="0"/>
              <a:t> </a:t>
            </a:r>
            <a:r>
              <a:rPr spc="70" dirty="0"/>
              <a:t>de</a:t>
            </a:r>
            <a:r>
              <a:rPr spc="-165" dirty="0"/>
              <a:t> </a:t>
            </a:r>
            <a:r>
              <a:rPr spc="-10" dirty="0"/>
              <a:t>Paralelização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38415"/>
            <a:ext cx="38798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b="1" dirty="0">
                <a:latin typeface="Arial"/>
                <a:cs typeface="Arial"/>
              </a:rPr>
              <a:t>Ideia</a:t>
            </a:r>
            <a:r>
              <a:rPr sz="400" b="1" spc="20" dirty="0">
                <a:latin typeface="Arial"/>
                <a:cs typeface="Arial"/>
              </a:rPr>
              <a:t> </a:t>
            </a:r>
            <a:r>
              <a:rPr sz="400" b="1" spc="-10" dirty="0">
                <a:latin typeface="Arial"/>
                <a:cs typeface="Arial"/>
              </a:rPr>
              <a:t>principal</a:t>
            </a:r>
            <a:endParaRPr sz="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1859586"/>
            <a:ext cx="487045" cy="6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Arial MT"/>
                <a:cs typeface="Arial MT"/>
              </a:rPr>
              <a:t>Cada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cálculo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é</a:t>
            </a:r>
            <a:r>
              <a:rPr sz="250" spc="25" dirty="0">
                <a:latin typeface="Arial MT"/>
                <a:cs typeface="Arial MT"/>
              </a:rPr>
              <a:t> </a:t>
            </a:r>
            <a:r>
              <a:rPr sz="250" spc="-10" dirty="0">
                <a:latin typeface="Arial MT"/>
                <a:cs typeface="Arial MT"/>
              </a:rPr>
              <a:t>independente.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0525" y="2055737"/>
            <a:ext cx="45339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Origem</a:t>
            </a:r>
            <a:r>
              <a:rPr sz="3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5" dirty="0">
                <a:solidFill>
                  <a:srgbClr val="FFFFFF"/>
                </a:solidFill>
                <a:latin typeface="Arial MT"/>
                <a:cs typeface="Arial MT"/>
              </a:rPr>
              <a:t>──►</a:t>
            </a:r>
            <a:r>
              <a:rPr sz="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0525" y="2260144"/>
            <a:ext cx="45339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Origem</a:t>
            </a:r>
            <a:r>
              <a:rPr sz="3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5" dirty="0">
                <a:solidFill>
                  <a:srgbClr val="FFFFFF"/>
                </a:solidFill>
                <a:latin typeface="Arial MT"/>
                <a:cs typeface="Arial MT"/>
              </a:rPr>
              <a:t>──►</a:t>
            </a:r>
            <a:r>
              <a:rPr sz="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0525" y="2464550"/>
            <a:ext cx="45339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Origem</a:t>
            </a:r>
            <a:r>
              <a:rPr sz="3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5" dirty="0">
                <a:solidFill>
                  <a:srgbClr val="FFFFFF"/>
                </a:solidFill>
                <a:latin typeface="Arial MT"/>
                <a:cs typeface="Arial MT"/>
              </a:rPr>
              <a:t>──►</a:t>
            </a:r>
            <a:r>
              <a:rPr sz="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0525" y="2668957"/>
            <a:ext cx="45339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Origem</a:t>
            </a:r>
            <a:r>
              <a:rPr sz="3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5" dirty="0">
                <a:solidFill>
                  <a:srgbClr val="FFFFFF"/>
                </a:solidFill>
                <a:latin typeface="Arial MT"/>
                <a:cs typeface="Arial MT"/>
              </a:rPr>
              <a:t>──►</a:t>
            </a:r>
            <a:r>
              <a:rPr sz="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0525" y="2873363"/>
            <a:ext cx="4635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85" dirty="0">
                <a:solidFill>
                  <a:srgbClr val="FFFFFF"/>
                </a:solidFill>
                <a:latin typeface="Arial MT"/>
                <a:cs typeface="Arial MT"/>
              </a:rPr>
              <a:t>↓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0525" y="3077770"/>
            <a:ext cx="18732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0525" y="3282176"/>
            <a:ext cx="18732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0525" y="3486583"/>
            <a:ext cx="18732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0525" y="3690989"/>
            <a:ext cx="18732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0525" y="3895650"/>
            <a:ext cx="662305" cy="6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Arial MT"/>
                <a:cs typeface="Arial MT"/>
              </a:rPr>
              <a:t>Não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existe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dependência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entre</a:t>
            </a:r>
            <a:r>
              <a:rPr sz="250" spc="25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as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-10" dirty="0">
                <a:latin typeface="Arial MT"/>
                <a:cs typeface="Arial MT"/>
              </a:rPr>
              <a:t>tarefas.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0525" y="4092056"/>
            <a:ext cx="988060" cy="6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10" dirty="0">
                <a:latin typeface="Arial MT"/>
                <a:cs typeface="Arial MT"/>
              </a:rPr>
              <a:t>Por</a:t>
            </a:r>
            <a:r>
              <a:rPr sz="250" spc="15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isso,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o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problema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é</a:t>
            </a:r>
            <a:r>
              <a:rPr sz="250" spc="20" dirty="0">
                <a:latin typeface="Arial MT"/>
                <a:cs typeface="Arial MT"/>
              </a:rPr>
              <a:t> </a:t>
            </a:r>
            <a:r>
              <a:rPr sz="250" spc="10" dirty="0">
                <a:latin typeface="Arial MT"/>
                <a:cs typeface="Arial MT"/>
              </a:rPr>
              <a:t>considerado</a:t>
            </a:r>
            <a:r>
              <a:rPr sz="250" spc="5" dirty="0">
                <a:latin typeface="Arial MT"/>
                <a:cs typeface="Arial MT"/>
              </a:rPr>
              <a:t> </a:t>
            </a:r>
            <a:r>
              <a:rPr sz="250" b="1" spc="10" dirty="0">
                <a:latin typeface="Arial"/>
                <a:cs typeface="Arial"/>
              </a:rPr>
              <a:t>Embarrassingly</a:t>
            </a:r>
            <a:r>
              <a:rPr sz="250" b="1" spc="20" dirty="0">
                <a:latin typeface="Arial"/>
                <a:cs typeface="Arial"/>
              </a:rPr>
              <a:t> </a:t>
            </a:r>
            <a:r>
              <a:rPr sz="250" b="1" spc="-10" dirty="0">
                <a:latin typeface="Arial"/>
                <a:cs typeface="Arial"/>
              </a:rPr>
              <a:t>Parallel</a:t>
            </a:r>
            <a:r>
              <a:rPr sz="250" spc="-10" dirty="0">
                <a:latin typeface="Arial MT"/>
                <a:cs typeface="Arial MT"/>
              </a:rPr>
              <a:t>.</a:t>
            </a:r>
            <a:endParaRPr sz="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Uso</a:t>
            </a:r>
            <a:r>
              <a:rPr spc="-170" dirty="0"/>
              <a:t> </a:t>
            </a:r>
            <a:r>
              <a:rPr spc="70" dirty="0"/>
              <a:t>do</a:t>
            </a:r>
            <a:r>
              <a:rPr spc="-165" dirty="0"/>
              <a:t> </a:t>
            </a:r>
            <a:r>
              <a:rPr spc="13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30404"/>
            <a:ext cx="2249170" cy="7327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Trecho</a:t>
            </a:r>
            <a:r>
              <a:rPr sz="9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principal: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207200"/>
              </a:lnSpc>
            </a:pPr>
            <a:r>
              <a:rPr sz="900" spc="-30" dirty="0">
                <a:solidFill>
                  <a:srgbClr val="FFFFFF"/>
                </a:solidFill>
                <a:latin typeface="Tahoma"/>
                <a:cs typeface="Tahoma"/>
              </a:rPr>
              <a:t>#pragma</a:t>
            </a:r>
            <a:r>
              <a:rPr sz="9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omp</a:t>
            </a:r>
            <a:r>
              <a:rPr sz="9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parallel</a:t>
            </a:r>
            <a:r>
              <a:rPr sz="9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schedule(dynamic)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9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(int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3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FFFFFF"/>
                </a:solidFill>
                <a:latin typeface="Tahoma"/>
                <a:cs typeface="Tahoma"/>
              </a:rPr>
              <a:t>0;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30" dirty="0">
                <a:solidFill>
                  <a:srgbClr val="FFFFFF"/>
                </a:solidFill>
                <a:latin typeface="Tahoma"/>
                <a:cs typeface="Tahoma"/>
              </a:rPr>
              <a:t>&lt;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totalOrigens;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80" dirty="0">
                <a:solidFill>
                  <a:srgbClr val="FFFFFF"/>
                </a:solidFill>
                <a:latin typeface="Tahoma"/>
                <a:cs typeface="Tahoma"/>
              </a:rPr>
              <a:t>i++)</a:t>
            </a:r>
            <a:r>
              <a:rPr sz="9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{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9745" y="2767003"/>
            <a:ext cx="184277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auto</a:t>
            </a:r>
            <a:r>
              <a:rPr sz="9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distancias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3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dijkstra(origens[i]);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0525" y="3335303"/>
            <a:ext cx="5098415" cy="7327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calcularMelhorSaida(distancias);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}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processa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uma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origem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diferente,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permitindo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aproveitar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múltiplos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núcleos</a:t>
            </a:r>
            <a:r>
              <a:rPr sz="9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9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processador.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Arquitetura</a:t>
            </a:r>
            <a:r>
              <a:rPr spc="-165" dirty="0"/>
              <a:t> </a:t>
            </a:r>
            <a:r>
              <a:rPr dirty="0"/>
              <a:t>da</a:t>
            </a:r>
            <a:r>
              <a:rPr spc="-160" dirty="0"/>
              <a:t> </a:t>
            </a:r>
            <a:r>
              <a:rPr spc="-10" dirty="0"/>
              <a:t>Solução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4084" y="1065417"/>
            <a:ext cx="24701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Grafo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 Viário</a:t>
            </a:r>
            <a:endParaRPr sz="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660" y="1264871"/>
            <a:ext cx="5143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9660" y="1464324"/>
            <a:ext cx="6667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4253" y="1663778"/>
            <a:ext cx="41846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Lista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4.000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origens</a:t>
            </a:r>
            <a:endParaRPr sz="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9660" y="1863232"/>
            <a:ext cx="5143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9660" y="2062685"/>
            <a:ext cx="6667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4253" y="2262138"/>
            <a:ext cx="38862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+----------------------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4253" y="2461592"/>
            <a:ext cx="34163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sz="300" spc="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OpenMP</a:t>
            </a:r>
            <a:r>
              <a:rPr sz="300" spc="37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4253" y="2661045"/>
            <a:ext cx="38862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+----------------------</a:t>
            </a:r>
            <a:r>
              <a:rPr sz="300" spc="-5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092" y="2860499"/>
            <a:ext cx="23241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1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8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0092" y="3059952"/>
            <a:ext cx="29210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r>
              <a:rPr sz="30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r>
              <a:rPr sz="300" spc="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r>
              <a:rPr sz="3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8321" y="3259406"/>
            <a:ext cx="56769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r>
              <a:rPr sz="3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Thread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2136" y="3458860"/>
            <a:ext cx="27178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8321" y="3658313"/>
            <a:ext cx="62484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r>
              <a:rPr sz="3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r>
              <a:rPr sz="3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r>
              <a:rPr sz="3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Dijkstra</a:t>
            </a:r>
            <a:endParaRPr sz="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2136" y="3857767"/>
            <a:ext cx="27178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r>
              <a:rPr sz="3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" spc="-10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2136" y="4057220"/>
            <a:ext cx="66865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75" dirty="0">
                <a:solidFill>
                  <a:srgbClr val="FFFFFF"/>
                </a:solidFill>
                <a:latin typeface="Arial MT"/>
                <a:cs typeface="Arial MT"/>
              </a:rPr>
              <a:t>└──────┴──────┴──────┘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9660" y="4256674"/>
            <a:ext cx="5143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9660" y="4456128"/>
            <a:ext cx="66675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42219" y="4655581"/>
            <a:ext cx="574040" cy="74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Rotas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3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dirty="0">
                <a:solidFill>
                  <a:srgbClr val="FFFFFF"/>
                </a:solidFill>
                <a:latin typeface="Tahoma"/>
                <a:cs typeface="Tahoma"/>
              </a:rPr>
              <a:t>evacuação</a:t>
            </a:r>
            <a:r>
              <a:rPr sz="3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" spc="-10" dirty="0">
                <a:solidFill>
                  <a:srgbClr val="FFFFFF"/>
                </a:solidFill>
                <a:latin typeface="Tahoma"/>
                <a:cs typeface="Tahoma"/>
              </a:rPr>
              <a:t>calculadas</a:t>
            </a:r>
            <a:endParaRPr sz="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Resultados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184009"/>
              </p:ext>
            </p:extLst>
          </p:nvPr>
        </p:nvGraphicFramePr>
        <p:xfrm>
          <a:off x="952500" y="1276350"/>
          <a:ext cx="7239000" cy="357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Threads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Tempo (s)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Speedup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Eficiência (%)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120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1,00x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100%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62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1,94x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97%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31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3,87x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96,8%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16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7,50x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93,8%</a:t>
                      </a:r>
                    </a:p>
                  </a:txBody>
                  <a:tcPr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Interpretação</a:t>
            </a:r>
            <a:r>
              <a:rPr spc="-125" dirty="0"/>
              <a:t> </a:t>
            </a:r>
            <a:r>
              <a:rPr dirty="0"/>
              <a:t>dos</a:t>
            </a:r>
            <a:r>
              <a:rPr spc="-125" dirty="0"/>
              <a:t> </a:t>
            </a:r>
            <a:r>
              <a:rPr spc="-10" dirty="0"/>
              <a:t>Resultados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4805" y="1604252"/>
            <a:ext cx="5911215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>
              <a:lnSpc>
                <a:spcPct val="114999"/>
              </a:lnSpc>
              <a:spcBef>
                <a:spcPts val="100"/>
              </a:spcBef>
              <a:buClr>
                <a:srgbClr val="000000"/>
              </a:buClr>
              <a:buSzPct val="84615"/>
              <a:buFont typeface="Arial MT"/>
              <a:buChar char="●"/>
              <a:tabLst>
                <a:tab pos="325120" algn="l"/>
              </a:tabLst>
            </a:pPr>
            <a:r>
              <a:rPr sz="1300" spc="1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aumento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3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número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3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threads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reduz</a:t>
            </a:r>
            <a:r>
              <a:rPr sz="13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quase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proporcionalmente</a:t>
            </a:r>
            <a:r>
              <a:rPr sz="13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tempo</a:t>
            </a:r>
            <a:r>
              <a:rPr sz="13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processamento.</a:t>
            </a:r>
            <a:endParaRPr sz="1300">
              <a:latin typeface="Tahoma"/>
              <a:cs typeface="Tahoma"/>
            </a:endParaRPr>
          </a:p>
          <a:p>
            <a:pPr marL="325120" indent="-312420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SzPct val="84615"/>
              <a:buFont typeface="Arial MT"/>
              <a:buChar char="●"/>
              <a:tabLst>
                <a:tab pos="325120" algn="l"/>
              </a:tabLst>
            </a:pPr>
            <a:r>
              <a:rPr sz="1300" spc="10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eficiência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permanece</a:t>
            </a:r>
            <a:r>
              <a:rPr sz="1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acima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85" dirty="0">
                <a:solidFill>
                  <a:srgbClr val="FFFFFF"/>
                </a:solidFill>
                <a:latin typeface="Tahoma"/>
                <a:cs typeface="Tahoma"/>
              </a:rPr>
              <a:t>90%,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indicando</a:t>
            </a:r>
            <a:r>
              <a:rPr sz="1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baixo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overhead.</a:t>
            </a:r>
            <a:endParaRPr sz="1300">
              <a:latin typeface="Tahoma"/>
              <a:cs typeface="Tahoma"/>
            </a:endParaRPr>
          </a:p>
          <a:p>
            <a:pPr marL="325120" indent="-31242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SzPct val="84615"/>
              <a:buFont typeface="Arial MT"/>
              <a:buChar char="●"/>
              <a:tabLst>
                <a:tab pos="325120" algn="l"/>
              </a:tabLst>
            </a:pPr>
            <a:r>
              <a:rPr sz="1300" spc="10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independência</a:t>
            </a:r>
            <a:r>
              <a:rPr sz="13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entre</a:t>
            </a:r>
            <a:r>
              <a:rPr sz="13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tarefas</a:t>
            </a:r>
            <a:r>
              <a:rPr sz="13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favorece</a:t>
            </a:r>
            <a:r>
              <a:rPr sz="13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excelente</a:t>
            </a:r>
            <a:r>
              <a:rPr sz="13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escalabilidade.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0525" y="1631939"/>
            <a:ext cx="12490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Arial"/>
                <a:cs typeface="Arial"/>
              </a:rPr>
              <a:t>Conclusões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805" y="2060182"/>
            <a:ext cx="6680834" cy="9893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295"/>
              </a:spcBef>
              <a:buChar char="●"/>
              <a:tabLst>
                <a:tab pos="32512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programação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paralela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tornou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cálculo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rotas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muito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rápido.</a:t>
            </a:r>
            <a:endParaRPr sz="1100">
              <a:latin typeface="Arial MT"/>
              <a:cs typeface="Arial MT"/>
            </a:endParaRPr>
          </a:p>
          <a:p>
            <a:pPr marL="325120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325120" algn="l"/>
              </a:tabLst>
            </a:pPr>
            <a:r>
              <a:rPr sz="1100" dirty="0">
                <a:latin typeface="Arial MT"/>
                <a:cs typeface="Arial MT"/>
              </a:rPr>
              <a:t>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OpenMP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simplificou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distribuição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tarefas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threads.</a:t>
            </a:r>
            <a:endParaRPr sz="1100">
              <a:latin typeface="Arial MT"/>
              <a:cs typeface="Arial MT"/>
            </a:endParaRPr>
          </a:p>
          <a:p>
            <a:pPr marL="325120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325120" algn="l"/>
              </a:tabLst>
            </a:pPr>
            <a:r>
              <a:rPr sz="1100" dirty="0">
                <a:latin typeface="Arial MT"/>
                <a:cs typeface="Arial MT"/>
              </a:rPr>
              <a:t>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algoritmo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Dijkstra mostrou-</a:t>
            </a:r>
            <a:r>
              <a:rPr sz="1100" dirty="0">
                <a:latin typeface="Arial MT"/>
                <a:cs typeface="Arial MT"/>
              </a:rPr>
              <a:t>se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adequado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encontrar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caminhos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mínimos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malha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viária.</a:t>
            </a:r>
            <a:endParaRPr sz="1100">
              <a:latin typeface="Arial MT"/>
              <a:cs typeface="Arial MT"/>
            </a:endParaRPr>
          </a:p>
          <a:p>
            <a:pPr marL="325120" marR="5080" indent="-313055">
              <a:lnSpc>
                <a:spcPct val="114999"/>
              </a:lnSpc>
              <a:buChar char="●"/>
              <a:tabLst>
                <a:tab pos="32512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estratégia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decomposição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tarefas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apresentou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excelente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escalabilidade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cenários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grande porte.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535</Words>
  <Application>Microsoft Office PowerPoint</Application>
  <PresentationFormat>Apresentação na tela (16:9)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Tahoma</vt:lpstr>
      <vt:lpstr>Verdana</vt:lpstr>
      <vt:lpstr>Office Theme</vt:lpstr>
      <vt:lpstr>Otimização de Rotas</vt:lpstr>
      <vt:lpstr>Motivação do Projeto</vt:lpstr>
      <vt:lpstr>Objetivo do Projeto</vt:lpstr>
      <vt:lpstr>Modelagem do Problema</vt:lpstr>
      <vt:lpstr>Cenário de Estresse</vt:lpstr>
      <vt:lpstr>Algoritmo de Busca</vt:lpstr>
      <vt:lpstr>Estratégia de Paralelização</vt:lpstr>
      <vt:lpstr>Uso do OpenMP</vt:lpstr>
      <vt:lpstr>Arquitetura da Solução</vt:lpstr>
      <vt:lpstr>Resultados</vt:lpstr>
      <vt:lpstr>Interpretação dos Resultados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de Rotas</dc:title>
  <dc:creator>Guilherme</dc:creator>
  <cp:lastModifiedBy>Logística UE Brasil Tecnologia</cp:lastModifiedBy>
  <cp:revision>1</cp:revision>
  <dcterms:created xsi:type="dcterms:W3CDTF">2026-06-23T20:38:01Z</dcterms:created>
  <dcterms:modified xsi:type="dcterms:W3CDTF">2026-06-23T20:40:02Z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2026-06-23T00:00:00Z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2026-06-23T00:00:00Z</vt:filetime>
  </property>
</Properties>
</file>